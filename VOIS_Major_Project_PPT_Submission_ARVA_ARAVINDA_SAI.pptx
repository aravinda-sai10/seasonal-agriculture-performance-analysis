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952E4-5D8C-40E2-B02D-DB011E707F23}" v="6" dt="2026-09-14T19:01:14.86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INDA SAI ARVA" userId="9bbb2a8915b31c64" providerId="LiveId" clId="{EF46F138-01D0-4411-8BAF-BD586670520F}"/>
    <pc:docChg chg="modSld">
      <pc:chgData name="ARAVINDA SAI ARVA" userId="9bbb2a8915b31c64" providerId="LiveId" clId="{EF46F138-01D0-4411-8BAF-BD586670520F}" dt="2026-09-14T19:01:23.113" v="21" actId="207"/>
      <pc:docMkLst>
        <pc:docMk/>
      </pc:docMkLst>
      <pc:sldChg chg="modSp">
        <pc:chgData name="ARAVINDA SAI ARVA" userId="9bbb2a8915b31c64" providerId="LiveId" clId="{EF46F138-01D0-4411-8BAF-BD586670520F}" dt="2026-09-14T18:55:52.426" v="0" actId="207"/>
        <pc:sldMkLst>
          <pc:docMk/>
          <pc:sldMk cId="1341901065" sldId="302"/>
        </pc:sldMkLst>
        <pc:spChg chg="mod">
          <ac:chgData name="ARAVINDA SAI ARVA" userId="9bbb2a8915b31c64" providerId="LiveId" clId="{EF46F138-01D0-4411-8BAF-BD586670520F}" dt="2026-09-14T18:55:52.426" v="0" actId="207"/>
          <ac:spMkLst>
            <pc:docMk/>
            <pc:sldMk cId="1341901065" sldId="302"/>
            <ac:spMk id="7" creationId="{B21C28F5-3CA3-4B78-B5C9-550C00BB3174}"/>
          </ac:spMkLst>
        </pc:spChg>
      </pc:sldChg>
      <pc:sldChg chg="modSp mod">
        <pc:chgData name="ARAVINDA SAI ARVA" userId="9bbb2a8915b31c64" providerId="LiveId" clId="{EF46F138-01D0-4411-8BAF-BD586670520F}" dt="2026-09-14T19:01:23.113" v="21" actId="207"/>
        <pc:sldMkLst>
          <pc:docMk/>
          <pc:sldMk cId="3863610428" sldId="342"/>
        </pc:sldMkLst>
        <pc:spChg chg="mod">
          <ac:chgData name="ARAVINDA SAI ARVA" userId="9bbb2a8915b31c64" providerId="LiveId" clId="{EF46F138-01D0-4411-8BAF-BD586670520F}" dt="2026-09-14T19:01:23.113" v="21" actId="207"/>
          <ac:spMkLst>
            <pc:docMk/>
            <pc:sldMk cId="3863610428" sldId="342"/>
            <ac:spMk id="3" creationId="{5F0B37E4-66B1-8633-7266-68B321742757}"/>
          </ac:spMkLst>
        </pc:spChg>
      </pc:sldChg>
      <pc:sldChg chg="modSp mod">
        <pc:chgData name="ARAVINDA SAI ARVA" userId="9bbb2a8915b31c64" providerId="LiveId" clId="{EF46F138-01D0-4411-8BAF-BD586670520F}" dt="2026-09-14T18:56:07.831" v="1" actId="113"/>
        <pc:sldMkLst>
          <pc:docMk/>
          <pc:sldMk cId="1698901770" sldId="344"/>
        </pc:sldMkLst>
        <pc:spChg chg="mod">
          <ac:chgData name="ARAVINDA SAI ARVA" userId="9bbb2a8915b31c64" providerId="LiveId" clId="{EF46F138-01D0-4411-8BAF-BD586670520F}" dt="2026-09-14T18:56:07.831" v="1" actId="113"/>
          <ac:spMkLst>
            <pc:docMk/>
            <pc:sldMk cId="1698901770" sldId="344"/>
            <ac:spMk id="9" creationId="{62FE884B-0047-222E-4BBA-175A2735B7CD}"/>
          </ac:spMkLst>
        </pc:spChg>
      </pc:sldChg>
      <pc:sldChg chg="modSp mod">
        <pc:chgData name="ARAVINDA SAI ARVA" userId="9bbb2a8915b31c64" providerId="LiveId" clId="{EF46F138-01D0-4411-8BAF-BD586670520F}" dt="2026-09-14T18:56:10.722" v="2" actId="113"/>
        <pc:sldMkLst>
          <pc:docMk/>
          <pc:sldMk cId="1903979828" sldId="345"/>
        </pc:sldMkLst>
        <pc:spChg chg="mod">
          <ac:chgData name="ARAVINDA SAI ARVA" userId="9bbb2a8915b31c64" providerId="LiveId" clId="{EF46F138-01D0-4411-8BAF-BD586670520F}" dt="2026-09-14T18:56:10.722" v="2" actId="113"/>
          <ac:spMkLst>
            <pc:docMk/>
            <pc:sldMk cId="1903979828" sldId="345"/>
            <ac:spMk id="6" creationId="{755134B9-1E0A-D7DC-448D-04710F3A7A28}"/>
          </ac:spMkLst>
        </pc:spChg>
      </pc:sldChg>
      <pc:sldChg chg="addSp modSp mod">
        <pc:chgData name="ARAVINDA SAI ARVA" userId="9bbb2a8915b31c64" providerId="LiveId" clId="{EF46F138-01D0-4411-8BAF-BD586670520F}" dt="2026-09-14T18:57:30.322" v="19" actId="14100"/>
        <pc:sldMkLst>
          <pc:docMk/>
          <pc:sldMk cId="1421522261" sldId="346"/>
        </pc:sldMkLst>
        <pc:spChg chg="add mod">
          <ac:chgData name="ARAVINDA SAI ARVA" userId="9bbb2a8915b31c64" providerId="LiveId" clId="{EF46F138-01D0-4411-8BAF-BD586670520F}" dt="2026-09-14T18:57:30.322" v="19" actId="14100"/>
          <ac:spMkLst>
            <pc:docMk/>
            <pc:sldMk cId="1421522261" sldId="346"/>
            <ac:spMk id="2" creationId="{41C0B725-DDC3-7D51-AF92-EE1EE0113BCF}"/>
          </ac:spMkLst>
        </pc:spChg>
        <pc:spChg chg="mod">
          <ac:chgData name="ARAVINDA SAI ARVA" userId="9bbb2a8915b31c64" providerId="LiveId" clId="{EF46F138-01D0-4411-8BAF-BD586670520F}" dt="2026-09-14T18:56:32.263" v="4" actId="1076"/>
          <ac:spMkLst>
            <pc:docMk/>
            <pc:sldMk cId="1421522261" sldId="346"/>
            <ac:spMk id="4" creationId="{99E35150-35BD-1B1F-9A8C-890DBFDF3B54}"/>
          </ac:spMkLst>
        </pc:spChg>
        <pc:spChg chg="mod">
          <ac:chgData name="ARAVINDA SAI ARVA" userId="9bbb2a8915b31c64" providerId="LiveId" clId="{EF46F138-01D0-4411-8BAF-BD586670520F}" dt="2026-09-14T18:56:35.141" v="5" actId="1076"/>
          <ac:spMkLst>
            <pc:docMk/>
            <pc:sldMk cId="1421522261" sldId="346"/>
            <ac:spMk id="10" creationId="{F85C769B-425A-FE3B-E47A-3B747985DC52}"/>
          </ac:spMkLst>
        </pc:spChg>
        <pc:picChg chg="mod">
          <ac:chgData name="ARAVINDA SAI ARVA" userId="9bbb2a8915b31c64" providerId="LiveId" clId="{EF46F138-01D0-4411-8BAF-BD586670520F}" dt="2026-09-14T18:56:42.919" v="7" actId="1076"/>
          <ac:picMkLst>
            <pc:docMk/>
            <pc:sldMk cId="1421522261" sldId="346"/>
            <ac:picMk id="3" creationId="{16AADC28-609F-7765-5B5C-84BCF0350C7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avinda-Sai10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2" y="3594332"/>
            <a:ext cx="9255190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[ARVA ARAVINDA SAI – TRINITY COLLEGE OF ENGINEERING AND TECHNOLOGY]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81" y="2850884"/>
            <a:ext cx="958530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</a:t>
            </a:r>
            <a:r>
              <a:rPr lang="en-IN" sz="3200" dirty="0"/>
              <a:t>Seasonal Agriculture Performance Analysis</a:t>
            </a:r>
            <a:r>
              <a:rPr lang="en-GB" sz="3200" dirty="0"/>
              <a:t> 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01081" y="4233045"/>
            <a:ext cx="6394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(STU683a0c79cb5341748634745)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772920"/>
            <a:ext cx="6995604" cy="387210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335845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0B131C-5DCD-3F4B-F0C5-079CC9817CD2}"/>
              </a:ext>
            </a:extLst>
          </p:cNvPr>
          <p:cNvSpPr txBox="1"/>
          <p:nvPr/>
        </p:nvSpPr>
        <p:spPr>
          <a:xfrm>
            <a:off x="467359" y="1166842"/>
            <a:ext cx="79216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an exploratory data analytics project built entirely in Python (Pandas, NumPy, Matplotlib, Seaborn) on a seasonal agriculture performance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workflow covers: data cleaning (handling missing values, duplicate checks), descriptive statistics, univariate/bivariate/multivariate visual analysis, an IQR-based outlier check, and a full correlation study against yield.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original follow-up analyses go deeper - comparing irrigation methods across seasons, state-wise profitability, and crop-wise profit margins - leading to 8 key insights and a set of practical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machine learning model is built; the focus is entirely on statistical and visual data analysis to uncover seasonal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33019"/>
            <a:ext cx="7904481" cy="39900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Farmers and farming cooperatives planning crop and irrigation choices by season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Agricultural extension officers and state agriculture departments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Policy makers designing seasonal support programs (e.g. pest monitoring, subsidies)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Agri-input and irrigation companies targeting regions/seasons with the most impact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Researchers and students studying seasonal agricultural trends in India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8376" y="1432560"/>
            <a:ext cx="8419944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Python 3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Pandas &amp; NumPy - data cleaning, aggregation and statistical summaries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Matplotlib &amp; Seaborn - univariate, bivariate and multivariate visualizations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Jupyter Notebook - end-to-end analysis and documentation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Google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Colab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local Jupyter environment for execution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14039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CF271-29E8-D740-5471-25EDD58DA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3" y="2094391"/>
            <a:ext cx="9980802" cy="1966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D2798F-1585-BDDD-86CE-BEBEAAAF0E64}"/>
              </a:ext>
            </a:extLst>
          </p:cNvPr>
          <p:cNvSpPr txBox="1"/>
          <p:nvPr/>
        </p:nvSpPr>
        <p:spPr>
          <a:xfrm>
            <a:off x="601312" y="4214219"/>
            <a:ext cx="8276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Kharif has the highest average yield (about 5.6 t/ha) and total production of the three seasons, but also the highest disease/pest risk (about 54%).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Zaid is the weakest season on yield and profit, and also has the fewest records (594 of 4,000).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0BB816-189C-4983-918F-630E3D1B4E3C}"/>
              </a:ext>
            </a:extLst>
          </p:cNvPr>
          <p:cNvSpPr txBox="1"/>
          <p:nvPr/>
        </p:nvSpPr>
        <p:spPr>
          <a:xfrm>
            <a:off x="3051110" y="1618283"/>
            <a:ext cx="4376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Putting the Seasons Side by Side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1600" dirty="0"/>
              <a:t>RESULTS </a:t>
            </a:r>
            <a:endParaRPr lang="en-IN" sz="1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0A979-BCF4-83CB-BDE0-13999551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14695"/>
            <a:ext cx="8869671" cy="3926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916FD-41A0-26DE-0F9D-D35232B417DF}"/>
              </a:ext>
            </a:extLst>
          </p:cNvPr>
          <p:cNvSpPr txBox="1"/>
          <p:nvPr/>
        </p:nvSpPr>
        <p:spPr>
          <a:xfrm>
            <a:off x="320982" y="5416977"/>
            <a:ext cx="8869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Water_Efficiency</a:t>
            </a:r>
            <a:r>
              <a:rPr lang="en-US" sz="1600" dirty="0"/>
              <a:t> and Production correlate most strongly with Yield (both above 0.85), while Rainfall and </a:t>
            </a:r>
            <a:r>
              <a:rPr lang="en-US" sz="1600" dirty="0" err="1"/>
              <a:t>Farm_Area</a:t>
            </a:r>
            <a:r>
              <a:rPr lang="en-US" sz="1600" dirty="0"/>
              <a:t> show almost no linear relationship with Yield. This shows yield is driven more by how efficiently water is used than by rainfall volume itself.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CA5B7-E4E4-6AA4-B4CF-FC4CF7B5AA99}"/>
              </a:ext>
            </a:extLst>
          </p:cNvPr>
          <p:cNvSpPr txBox="1"/>
          <p:nvPr/>
        </p:nvSpPr>
        <p:spPr>
          <a:xfrm>
            <a:off x="3748024" y="725354"/>
            <a:ext cx="266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HEATMAP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087F34-F842-0327-930E-FBCA2FFF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394626"/>
            <a:ext cx="9666056" cy="3895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131A8-2233-B3D4-F410-EFFF8336A794}"/>
              </a:ext>
            </a:extLst>
          </p:cNvPr>
          <p:cNvSpPr txBox="1"/>
          <p:nvPr/>
        </p:nvSpPr>
        <p:spPr>
          <a:xfrm>
            <a:off x="320982" y="5290458"/>
            <a:ext cx="8990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Drip irrigation delivers the best yield and water efficiency in every single season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Kharif, Rabi and Zaid alike - never overtaken by Flood, Sprinkler or Rainfed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Flood irrigation uses the most water but converts it to yield the least efficiently.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FE884B-0047-222E-4BBA-175A2735B7CD}"/>
              </a:ext>
            </a:extLst>
          </p:cNvPr>
          <p:cNvSpPr txBox="1"/>
          <p:nvPr/>
        </p:nvSpPr>
        <p:spPr>
          <a:xfrm>
            <a:off x="4140083" y="994516"/>
            <a:ext cx="2027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BARCHART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0703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DF826-BBB5-33F5-05B2-E17A0A45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92" y="1210183"/>
            <a:ext cx="9531733" cy="4300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134B9-1E0A-D7DC-448D-04710F3A7A28}"/>
              </a:ext>
            </a:extLst>
          </p:cNvPr>
          <p:cNvSpPr txBox="1"/>
          <p:nvPr/>
        </p:nvSpPr>
        <p:spPr>
          <a:xfrm>
            <a:off x="4164970" y="797100"/>
            <a:ext cx="2864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BAR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48984-5914-AD13-703C-C79264B3F154}"/>
              </a:ext>
            </a:extLst>
          </p:cNvPr>
          <p:cNvSpPr txBox="1"/>
          <p:nvPr/>
        </p:nvSpPr>
        <p:spPr>
          <a:xfrm>
            <a:off x="591982" y="5575735"/>
            <a:ext cx="8785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profit varies clearly by state - Punjab and Maharashtra lead, while Andhra Pradesh and Madhya Pradesh trail behind - and this gap persists across all seasons, showing profitability is shaped by geography as much as by season.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2975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548882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AADC28-609F-7765-5B5C-84BCF0350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6" y="1490287"/>
            <a:ext cx="9335790" cy="3877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26497-3CF8-8CF4-8913-5C7D922252DB}"/>
              </a:ext>
            </a:extLst>
          </p:cNvPr>
          <p:cNvSpPr txBox="1"/>
          <p:nvPr/>
        </p:nvSpPr>
        <p:spPr>
          <a:xfrm>
            <a:off x="675957" y="5426307"/>
            <a:ext cx="8402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High-value crops like Sugarcane and Chilli hold a positive profit margin in every season, while staple grains (Wheat, Rice, Maize) run a negative margin on average.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Crop choice affects profitability at least as much as the season does.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C0B725-DDC3-7D51-AF92-EE1EE0113BCF}"/>
              </a:ext>
            </a:extLst>
          </p:cNvPr>
          <p:cNvSpPr txBox="1"/>
          <p:nvPr/>
        </p:nvSpPr>
        <p:spPr>
          <a:xfrm>
            <a:off x="3057558" y="1119685"/>
            <a:ext cx="4434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CROP-WISE PROFIT MARGIN CHART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11045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1DD9D-8FC6-6452-6A00-07EF7C9E4061}"/>
              </a:ext>
            </a:extLst>
          </p:cNvPr>
          <p:cNvSpPr txBox="1"/>
          <p:nvPr/>
        </p:nvSpPr>
        <p:spPr>
          <a:xfrm>
            <a:off x="675957" y="2136338"/>
            <a:ext cx="82109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Extend the analysis to multi-year data to separate season effects from year-to-year weather variability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Incorporate the real-world cost of switching irrigation methods to assess ROI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Validate profit-margin figures against actual market/MSP price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a predictive model to forecast yield or profit for a given season, crop, state and irrigation method combination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Turn the analysis into an interactive dashboard for farmers and planners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16896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598628" y="2184425"/>
            <a:ext cx="9189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https://github.com/Aravinda-Sai10/Seasonal-Agriculture-Performance-Analysis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89D7D-1899-CFFE-17F8-BF6F8141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24726"/>
            <a:ext cx="7851502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9134" y="2843113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1405</TotalTime>
  <Words>698</Words>
  <Application>Microsoft Office PowerPoint</Application>
  <PresentationFormat>Widescreen</PresentationFormat>
  <Paragraphs>57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– Seasonal Agriculture Performance Analysis 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ARAVINDA SAI ARVA</cp:lastModifiedBy>
  <cp:revision>99</cp:revision>
  <dcterms:created xsi:type="dcterms:W3CDTF">2021-07-11T13:13:15Z</dcterms:created>
  <dcterms:modified xsi:type="dcterms:W3CDTF">2026-09-14T19:01:25Z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